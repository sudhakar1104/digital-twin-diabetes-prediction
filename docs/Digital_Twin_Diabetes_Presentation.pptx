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728" cy="429768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43000"/>
            <a:ext cx="10424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Digital Twin for Type 2 Diabetes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74320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EE6E8"/>
                </a:solidFill>
              </a:defRPr>
            </a:pPr>
            <a:r>
              <a:t>Predicting Glucose-Spike Risk Up to 2 Hours 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42900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EE6E8"/>
                </a:solidFill>
              </a:defRPr>
            </a:pPr>
            <a:r>
              <a:t>Team TYST | St. Joseph's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411480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EE6E8"/>
                </a:solidFill>
              </a:defRPr>
            </a:pPr>
            <a:r>
              <a:t>Digital Twin Challenge 2026 - Prototype &amp; Code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B4B9"/>
                </a:solidFill>
              </a:defRPr>
            </a:pPr>
            <a:r>
              <a:t>TYST | Digital Twin Challenge 2026        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Type 2 diabetes requires continuous awareness of changing glucose levels.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Traditional monitoring is mostly reactive: abnormal glucose is identified after it occurs.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Glucose patterns are influenced by activity, sleep, heart rate, lifestyle and patient history.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Need: an early-warning system that combines historical and real-time patient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B4B9"/>
                </a:solidFill>
              </a:defRPr>
            </a:pPr>
            <a:r>
              <a:t>TYST | Digital Twin Challenge 2026        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A patient-specific Digital Twin that fuses EHR and wearable/time-series data.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Static EHR: age, sex, BMI, HbA1c and years since diagnosis.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Dynamic data: glucose, heart rate, steps and sleep.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Output: Low / Moderate / High risk of a glucose spike within the next 2 hours.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Designed as clinical decision support - not a replacement for a doctor.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B4B9"/>
                </a:solidFill>
              </a:defRPr>
            </a:pPr>
            <a:r>
              <a:t>TYST | Digital Twin Challenge 2026        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DCE1"/>
                </a:solidFill>
              </a:defRPr>
            </a:pPr>
            <a:r>
              <a:t>EHR + wearable data -&gt; prediction -&gt; clinical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48840"/>
            <a:ext cx="2057400" cy="1828800"/>
          </a:xfrm>
          <a:prstGeom prst="roundRect">
            <a:avLst/>
          </a:prstGeom>
          <a:solidFill>
            <a:srgbClr val="122F40"/>
          </a:solidFill>
          <a:ln>
            <a:solidFill>
              <a:srgbClr val="00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9B91"/>
                </a:solidFill>
              </a:defRPr>
            </a:pPr>
            <a:r>
              <a:t>EHR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1691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Age | BMI | HbA1c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6312" y="27432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148840"/>
            <a:ext cx="2057400" cy="1828800"/>
          </a:xfrm>
          <a:prstGeom prst="roundRect">
            <a:avLst/>
          </a:prstGeom>
          <a:solidFill>
            <a:srgbClr val="122F40"/>
          </a:solidFill>
          <a:ln>
            <a:solidFill>
              <a:srgbClr val="00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9B91"/>
                </a:solidFill>
              </a:defRPr>
            </a:pPr>
            <a:r>
              <a:t>WEARABLE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743200"/>
            <a:ext cx="1691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Glucose | HR | Steps | Sleep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1" y="27432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148840"/>
            <a:ext cx="2057400" cy="1828800"/>
          </a:xfrm>
          <a:prstGeom prst="roundRect">
            <a:avLst/>
          </a:prstGeom>
          <a:solidFill>
            <a:srgbClr val="122F40"/>
          </a:solidFill>
          <a:ln>
            <a:solidFill>
              <a:srgbClr val="2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286000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7BED2"/>
                </a:solidFill>
              </a:defRPr>
            </a:pPr>
            <a:r>
              <a:t>FEATURE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743200"/>
            <a:ext cx="1691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Rolling trends + static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27432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148840"/>
            <a:ext cx="2057400" cy="1828800"/>
          </a:xfrm>
          <a:prstGeom prst="roundRect">
            <a:avLst/>
          </a:prstGeom>
          <a:solidFill>
            <a:srgbClr val="122F40"/>
          </a:solidFill>
          <a:ln>
            <a:solidFill>
              <a:srgbClr val="2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2286000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7BED2"/>
                </a:solidFill>
              </a:defRPr>
            </a:pPr>
            <a:r>
              <a:t>ML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2743200"/>
            <a:ext cx="1691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2-hour spike probability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7432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2148840"/>
            <a:ext cx="2057400" cy="1828800"/>
          </a:xfrm>
          <a:prstGeom prst="roundRect">
            <a:avLst/>
          </a:prstGeom>
          <a:solidFill>
            <a:srgbClr val="122F40"/>
          </a:solidFill>
          <a:ln>
            <a:solidFill>
              <a:srgbClr val="2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286000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7BED2"/>
                </a:solidFill>
              </a:defRPr>
            </a:pPr>
            <a: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743200"/>
            <a:ext cx="1691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Risk + explanation + what-if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B4B9"/>
                </a:solidFill>
              </a:defRPr>
            </a:pPr>
            <a:r>
              <a:t>TYST | Digital Twin Challenge 2026        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</a:defRPr>
            </a:pPr>
            <a:r>
              <a:t>• Synthetic dataset generated for the proof-of-concept.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</a:defRPr>
            </a:pPr>
            <a:r>
              <a:t>• 50 patients x 14 days at 5-minute intervals (~200,000 rows).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</a:defRPr>
            </a:pPr>
            <a:r>
              <a:t>• Dynamic variables: glucose, heart rate, steps and sleep.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</a:defRPr>
            </a:pPr>
            <a:r>
              <a:t>• Static variables: age, sex, BMI, HbA1c and years since diagnosis.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</a:defRPr>
            </a:pPr>
            <a:r>
              <a:t>• Target: whether glucose exceeds 180 mg/dL within the next 2 hours.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</a:defRPr>
            </a:pPr>
            <a:r>
              <a:t>• No personally identifiable patient information is 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B4B9"/>
                </a:solidFill>
              </a:defRPr>
            </a:pPr>
            <a:r>
              <a:t>TYST | Digital Twin Challenge 2026        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/ ML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</a:defRPr>
            </a:pPr>
            <a:r>
              <a:t>• Binary classification for 2-hour glucose-spike risk.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</a:defRPr>
            </a:pPr>
            <a:r>
              <a:t>• Features use past data only to reduce data leakage.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</a:defRPr>
            </a:pPr>
            <a:r>
              <a:t>• Models: baseline rule, Logistic Regression, and tree-based model (Random Forest / Gradient Boosting).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</a:defRPr>
            </a:pPr>
            <a:r>
              <a:t>• Patient-level train/validation/test split prevents the same patient appearing across sets.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</a:defRPr>
            </a:pPr>
            <a:r>
              <a:t>• Evaluation: ROC-AUC, PR-AUC, recall, precision, F1 and confusion matrix.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</a:defRPr>
            </a:pPr>
            <a:r>
              <a:t>• Risk probability is mapped to Low / Moderate / High.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B4B9"/>
                </a:solidFill>
              </a:defRPr>
            </a:pPr>
            <a:r>
              <a:t>TYST | Digital Twin Challenge 2026        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Doctor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DCE1"/>
                </a:solidFill>
              </a:defRPr>
            </a:pPr>
            <a:r>
              <a:t>Conceptual clinician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383280" cy="1325880"/>
          </a:xfrm>
          <a:prstGeom prst="roundRect">
            <a:avLst/>
          </a:prstGeom>
          <a:solidFill>
            <a:srgbClr val="122F40"/>
          </a:solidFill>
          <a:ln>
            <a:solidFill>
              <a:srgbClr val="00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91639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9B91"/>
                </a:solidFill>
              </a:defRPr>
            </a:pPr>
            <a:r>
              <a:t>PATIENT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30175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Age | BMI | HbA1c | Diagnosis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1325880"/>
          </a:xfrm>
          <a:prstGeom prst="roundRect">
            <a:avLst/>
          </a:prstGeom>
          <a:solidFill>
            <a:srgbClr val="122F40"/>
          </a:solidFill>
          <a:ln>
            <a:solidFill>
              <a:srgbClr val="2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39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7BED2"/>
                </a:solidFill>
              </a:defRPr>
            </a:pPr>
            <a:r>
              <a:t>LIVE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30175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Glucose | Heart rate | Steps | Sleep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383280" cy="1325880"/>
          </a:xfrm>
          <a:prstGeom prst="roundRect">
            <a:avLst/>
          </a:prstGeom>
          <a:solidFill>
            <a:srgbClr val="122F40"/>
          </a:solidFill>
          <a:ln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91639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D24646"/>
                </a:solidFill>
              </a:defRPr>
            </a:pPr>
            <a:r>
              <a:t>2-HOUR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48840"/>
            <a:ext cx="30175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Low / Moderate / High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5212080" cy="1965960"/>
          </a:xfrm>
          <a:prstGeom prst="roundRect">
            <a:avLst/>
          </a:prstGeom>
          <a:solidFill>
            <a:srgbClr val="122F40"/>
          </a:solidFill>
          <a:ln>
            <a:solidFill>
              <a:srgbClr val="00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383279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9B91"/>
                </a:solidFill>
              </a:defRPr>
            </a:pPr>
            <a:r>
              <a:t>GLUCOSE TREND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840480"/>
            <a:ext cx="484632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Recent time-series with 180 mg/dL threshold and upcoming-risk context.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46120"/>
            <a:ext cx="5303520" cy="1965960"/>
          </a:xfrm>
          <a:prstGeom prst="roundRect">
            <a:avLst/>
          </a:prstGeom>
          <a:solidFill>
            <a:srgbClr val="122F40"/>
          </a:solidFill>
          <a:ln>
            <a:solidFill>
              <a:srgbClr val="2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79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7BED2"/>
                </a:solidFill>
              </a:defRPr>
            </a:pPr>
            <a:r>
              <a:t>EXPLAIN + WHAT-IF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840480"/>
            <a:ext cx="4937759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Key risk drivers and simulated impact of more steps or improved sleep.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B4B9"/>
                </a:solidFill>
              </a:defRPr>
            </a:pPr>
            <a:r>
              <a:t>TYST | Digital Twin Challenge 2026        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Prototype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End-to-end pipeline implemented: data generation -&gt; feature engineering -&gt; model -&gt; prediction -&gt; dashboard.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Live Streamlit dashboard is deployed.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Public GitHub repository contains source code, model workflow, documentation and architecture diagram.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Model metric fields should be updated with actual training output before final submission.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Current results are proof-of-concept results on synthetic data and are not clinical-performance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B4B9"/>
                </a:solidFill>
              </a:defRPr>
            </a:pPr>
            <a:r>
              <a:t>TYST | Digital Twin Challenge 2026        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Synthetic data cannot represent the full variability of real patients.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No clinical validation or regulatory review has been performed.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Future: validate with consented, de-identified CGM + EHR datasets.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Add medication and meal logging.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Develop per-patient personalization and clinician-validated alert thresholds.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B4B9"/>
                </a:solidFill>
              </a:defRPr>
            </a:pPr>
            <a:r>
              <a:t>TYST | Digital Twin Challenge 2026        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Proactive rather than reactive diabetes monitoring.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Digital Twin combines patient history with continuously changing physiological data.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2-hour risk prediction can support earlier clinical attention and personalized conversations.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Prototype demonstrates a practical foundation for future real-world validation.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</a:defRPr>
            </a:pPr>
            <a:r>
              <a:t>• Team TYST - Digital Twin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B4B9"/>
                </a:solidFill>
              </a:defRPr>
            </a:pPr>
            <a:r>
              <a:t>TYST | Digital Twin Challenge 2026                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